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12191675"/>
  <p:embeddedFontLst>
    <p:embeddedFont>
      <p:font typeface="Inconsolata"/>
      <p:bold r:id="rId17"/>
    </p:embeddedFont>
    <p:embeddedFont>
      <p:font typeface="Fira Sans"/>
      <p:regular r:id="rId18"/>
      <p:bold r:id="rId19"/>
      <p:italic r:id="rId20"/>
      <p:boldItalic r:id="rId21"/>
    </p:embeddedFont>
    <p:embeddedFont>
      <p:font typeface="Inconsolata Light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oEnehVAVrRMQUvISqCZl9lN5f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2FB81C-D38C-4FCC-98CC-B29ECDD51928}">
  <a:tblStyle styleId="{8D2FB81C-D38C-4FCC-98CC-B29ECDD519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FiraSans-italic.fntdata"/><Relationship Id="rId11" Type="http://schemas.openxmlformats.org/officeDocument/2006/relationships/slide" Target="slides/slide6.xml"/><Relationship Id="rId22" Type="http://schemas.openxmlformats.org/officeDocument/2006/relationships/font" Target="fonts/InconsolataLight-regular.fntdata"/><Relationship Id="rId10" Type="http://schemas.openxmlformats.org/officeDocument/2006/relationships/slide" Target="slides/slide5.xml"/><Relationship Id="rId21" Type="http://schemas.openxmlformats.org/officeDocument/2006/relationships/font" Target="fonts/FiraSans-boldItalic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InconsolataLight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Inconsolata-bold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FiraSans-bold.fntdata"/><Relationship Id="rId6" Type="http://schemas.openxmlformats.org/officeDocument/2006/relationships/slide" Target="slides/slide1.xml"/><Relationship Id="rId18" Type="http://schemas.openxmlformats.org/officeDocument/2006/relationships/font" Target="fonts/Fira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8b62b76d2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8b62b76d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f8b62b76d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0C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6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1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875" y="65589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jp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ismaelcabrera/CAPSTONE-2026/tree/m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9809" y="0"/>
            <a:ext cx="457188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1"/>
          <p:cNvSpPr/>
          <p:nvPr/>
        </p:nvSpPr>
        <p:spPr>
          <a:xfrm>
            <a:off x="661475" y="2590800"/>
            <a:ext cx="6296860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46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Ventas Monroy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61475" y="3464917"/>
            <a:ext cx="6906444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23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Guía 1 · Definición Proyecto APT · Capstone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661475" y="3979903"/>
            <a:ext cx="4370100" cy="771300"/>
          </a:xfrm>
          <a:prstGeom prst="roundRect">
            <a:avLst>
              <a:gd fmla="val 7899" name="adj"/>
            </a:avLst>
          </a:prstGeom>
          <a:solidFill>
            <a:srgbClr val="4A02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/>
          </a:p>
        </p:txBody>
      </p:sp>
      <p:sp>
        <p:nvSpPr>
          <p:cNvPr id="24" name="Google Shape;24;p1"/>
          <p:cNvSpPr/>
          <p:nvPr/>
        </p:nvSpPr>
        <p:spPr>
          <a:xfrm>
            <a:off x="718325" y="4050798"/>
            <a:ext cx="44583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150"/>
              <a:buFont typeface="Fira Sans"/>
              <a:buNone/>
            </a:pPr>
            <a:r>
              <a:rPr b="0" i="0" lang="en-US" sz="20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INGENIERÍA EN INFORMÁTICA · DUOC UC VIÑA DEL MAR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661475" y="1761034"/>
            <a:ext cx="10868745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Equipo de Proyecto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61475" y="2729706"/>
            <a:ext cx="5339820" cy="1089124"/>
          </a:xfrm>
          <a:prstGeom prst="roundRect">
            <a:avLst>
              <a:gd fmla="val 2603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850482" y="2918718"/>
            <a:ext cx="4961806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Victor Sandino Iriarte Serrano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850482" y="3327400"/>
            <a:ext cx="4961806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RUT: 21.096.410-K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90301" y="2729706"/>
            <a:ext cx="5339919" cy="1089124"/>
          </a:xfrm>
          <a:prstGeom prst="roundRect">
            <a:avLst>
              <a:gd fmla="val 2603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6379308" y="2918718"/>
            <a:ext cx="496190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Ismael Gustavo Cabrera Loyola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6379308" y="3327400"/>
            <a:ext cx="4961905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RUT: 20.174.655-8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61475" y="4007842"/>
            <a:ext cx="5339820" cy="1089124"/>
          </a:xfrm>
          <a:prstGeom prst="roundRect">
            <a:avLst>
              <a:gd fmla="val 2603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850482" y="4196854"/>
            <a:ext cx="4961806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Javier Ignacio Monroy Silva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850482" y="4605536"/>
            <a:ext cx="4961806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RUT: 21.787.643-5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190301" y="4007842"/>
            <a:ext cx="5339919" cy="1089124"/>
          </a:xfrm>
          <a:prstGeom prst="roundRect">
            <a:avLst>
              <a:gd fmla="val 2603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379308" y="4196854"/>
            <a:ext cx="496190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Ignacio Javier Cerón Serrano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379308" y="4605536"/>
            <a:ext cx="4961905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RUT: 19.776.440-6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" name="Google Shape;4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6250" y="6267441"/>
            <a:ext cx="14954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9" name="Google Shape;4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9809" y="0"/>
            <a:ext cx="457188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"/>
          <p:cNvSpPr/>
          <p:nvPr/>
        </p:nvSpPr>
        <p:spPr>
          <a:xfrm>
            <a:off x="661475" y="1503065"/>
            <a:ext cx="6296860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El Problema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61475" y="2377182"/>
            <a:ext cx="3053877" cy="1693168"/>
          </a:xfrm>
          <a:prstGeom prst="roundRect">
            <a:avLst>
              <a:gd fmla="val 1675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850482" y="2566194"/>
            <a:ext cx="2675863" cy="301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📋</a:t>
            </a: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 Sin automatización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850482" y="2981226"/>
            <a:ext cx="2675863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Registros manuales, inventario desactualizado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04359" y="2377182"/>
            <a:ext cx="3053976" cy="1693168"/>
          </a:xfrm>
          <a:prstGeom prst="roundRect">
            <a:avLst>
              <a:gd fmla="val 1675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4093366" y="2566194"/>
            <a:ext cx="2675962" cy="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⚠️</a:t>
            </a: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 Mermas por vencimiento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4093366" y="3276501"/>
            <a:ext cx="2675962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Pérdidas por productos próximos a caducar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661475" y="4259362"/>
            <a:ext cx="6296860" cy="1095474"/>
          </a:xfrm>
          <a:prstGeom prst="roundRect">
            <a:avLst>
              <a:gd fmla="val 2588" name="adj"/>
            </a:avLst>
          </a:prstGeom>
          <a:solidFill>
            <a:srgbClr val="433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3"/>
          <p:cNvSpPr/>
          <p:nvPr/>
        </p:nvSpPr>
        <p:spPr>
          <a:xfrm>
            <a:off x="850482" y="4448373"/>
            <a:ext cx="5918846" cy="301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📉</a:t>
            </a: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 Errores en pedidos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850482" y="4863405"/>
            <a:ext cx="5918846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Diferencias en conteo manual, retrasos al cliente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/>
          <p:nvPr/>
        </p:nvSpPr>
        <p:spPr>
          <a:xfrm>
            <a:off x="661475" y="823317"/>
            <a:ext cx="10868745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lang="en-US" sz="3700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Solución </a:t>
            </a: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del Proyecto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6" name="Google Shape;6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1910060"/>
            <a:ext cx="6903269" cy="391189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4"/>
          <p:cNvSpPr/>
          <p:nvPr/>
        </p:nvSpPr>
        <p:spPr>
          <a:xfrm>
            <a:off x="8032214" y="2029698"/>
            <a:ext cx="35043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1850"/>
              <a:buFont typeface="Inconsolata"/>
              <a:buNone/>
            </a:pPr>
            <a:r>
              <a:rPr b="1" i="0" lang="en-US" sz="245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Sistema de control y gestión de inventario automatizado</a:t>
            </a:r>
            <a:endParaRPr b="0" i="0" sz="2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8032214" y="3187496"/>
            <a:ext cx="35043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5600">
            <a:normAutofit/>
          </a:bodyPr>
          <a:lstStyle/>
          <a:p>
            <a:pPr indent="-3327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050"/>
              <a:buFont typeface="Fira Sans"/>
              <a:buChar char="•"/>
            </a:pPr>
            <a:r>
              <a:rPr b="0" i="0" lang="en-US" sz="20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Registro automatizado de entradas y salidas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27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050"/>
              <a:buFont typeface="Fira Sans"/>
              <a:buChar char="•"/>
            </a:pPr>
            <a:r>
              <a:rPr b="0" i="0" lang="en-US" sz="20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Control de lotes y fechas de vencimiento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27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050"/>
              <a:buFont typeface="Fira Sans"/>
              <a:buChar char="•"/>
            </a:pPr>
            <a:r>
              <a:rPr b="0" i="0" lang="en-US" sz="20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Alertas de stock crítico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27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050"/>
              <a:buFont typeface="Fira Sans"/>
              <a:buChar char="•"/>
            </a:pPr>
            <a:r>
              <a:rPr b="0" i="0" lang="en-US" sz="20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Reportes en tiempo real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696250" y="6267458"/>
            <a:ext cx="14954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"/>
          <p:cNvSpPr/>
          <p:nvPr/>
        </p:nvSpPr>
        <p:spPr>
          <a:xfrm>
            <a:off x="661475" y="1893292"/>
            <a:ext cx="10868745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Áreas de Desempeño y Competencias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6" name="Google Shape;7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2861965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5"/>
          <p:cNvSpPr/>
          <p:nvPr/>
        </p:nvSpPr>
        <p:spPr>
          <a:xfrm>
            <a:off x="1370177" y="2861965"/>
            <a:ext cx="460750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IA y Tecnologías Emergentes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1370177" y="3270647"/>
            <a:ext cx="4607504" cy="604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Algoritmos de aprendizaje supervisado para automatización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9" name="Google Shape;7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3915" y="2861965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5"/>
          <p:cNvSpPr/>
          <p:nvPr/>
        </p:nvSpPr>
        <p:spPr>
          <a:xfrm>
            <a:off x="6922617" y="2861965"/>
            <a:ext cx="460760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Diseño y Modelamiento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922617" y="3270647"/>
            <a:ext cx="4607603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Arquitecturas de software para datos complejos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2" name="Google Shape;8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1475" y="4253508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5"/>
          <p:cNvSpPr/>
          <p:nvPr/>
        </p:nvSpPr>
        <p:spPr>
          <a:xfrm>
            <a:off x="1370177" y="4253508"/>
            <a:ext cx="460750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Desarrollo y Datos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1370177" y="4662190"/>
            <a:ext cx="4607504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Persistencia, consistencia y despliegue Cloud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5" name="Google Shape;8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3915" y="4253508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5"/>
          <p:cNvSpPr/>
          <p:nvPr/>
        </p:nvSpPr>
        <p:spPr>
          <a:xfrm>
            <a:off x="6922617" y="4253508"/>
            <a:ext cx="460760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Gestión TI Ágil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6922617" y="4662190"/>
            <a:ext cx="4607603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Ciclo de vida del software bajo metodologías ágiles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8" name="Google Shape;88;p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696250" y="6215184"/>
            <a:ext cx="14954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6"/>
          <p:cNvSpPr/>
          <p:nvPr/>
        </p:nvSpPr>
        <p:spPr>
          <a:xfrm>
            <a:off x="661475" y="1824434"/>
            <a:ext cx="10868745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Objetivos Específicos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661475" y="2793107"/>
            <a:ext cx="378014" cy="236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Inconsolata Light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Inconsolata Light"/>
                <a:ea typeface="Inconsolata Light"/>
                <a:cs typeface="Inconsolata Light"/>
                <a:sym typeface="Inconsolata Light"/>
              </a:rPr>
              <a:t>01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661475" y="3088977"/>
            <a:ext cx="3496877" cy="25400"/>
          </a:xfrm>
          <a:prstGeom prst="rect">
            <a:avLst/>
          </a:prstGeom>
          <a:solidFill>
            <a:srgbClr val="FF66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661475" y="3234234"/>
            <a:ext cx="349687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Levantar y modelar requerimientos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4347359" y="2793107"/>
            <a:ext cx="378014" cy="236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Inconsolata Light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Inconsolata Light"/>
                <a:ea typeface="Inconsolata Light"/>
                <a:cs typeface="Inconsolata Light"/>
                <a:sym typeface="Inconsolata Light"/>
              </a:rPr>
              <a:t>02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4347359" y="3088977"/>
            <a:ext cx="3496877" cy="25400"/>
          </a:xfrm>
          <a:prstGeom prst="rect">
            <a:avLst/>
          </a:prstGeom>
          <a:solidFill>
            <a:srgbClr val="FF66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4347359" y="3234234"/>
            <a:ext cx="349687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Diseñar arquitectura y modelo de datos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8033244" y="2793107"/>
            <a:ext cx="378014" cy="236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Inconsolata Light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Inconsolata Light"/>
                <a:ea typeface="Inconsolata Light"/>
                <a:cs typeface="Inconsolata Light"/>
                <a:sym typeface="Inconsolata Light"/>
              </a:rPr>
              <a:t>03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8033244" y="3088977"/>
            <a:ext cx="3496877" cy="25400"/>
          </a:xfrm>
          <a:prstGeom prst="rect">
            <a:avLst/>
          </a:prstGeom>
          <a:solidFill>
            <a:srgbClr val="FF66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8033244" y="3234234"/>
            <a:ext cx="349687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Construir interfaz y lógica de negocio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661475" y="4155480"/>
            <a:ext cx="378014" cy="236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Inconsolata Light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Inconsolata Light"/>
                <a:ea typeface="Inconsolata Light"/>
                <a:cs typeface="Inconsolata Light"/>
                <a:sym typeface="Inconsolata Light"/>
              </a:rPr>
              <a:t>04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661475" y="4432399"/>
            <a:ext cx="5339820" cy="25400"/>
          </a:xfrm>
          <a:prstGeom prst="rect">
            <a:avLst/>
          </a:prstGeom>
          <a:solidFill>
            <a:srgbClr val="FF66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661475" y="4596606"/>
            <a:ext cx="533982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Gestionar el ciclo de vida del proyecto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6190301" y="4155480"/>
            <a:ext cx="378014" cy="236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Inconsolata Light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Inconsolata Light"/>
                <a:ea typeface="Inconsolata Light"/>
                <a:cs typeface="Inconsolata Light"/>
                <a:sym typeface="Inconsolata Light"/>
              </a:rPr>
              <a:t>05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6190301" y="4432399"/>
            <a:ext cx="5339820" cy="25400"/>
          </a:xfrm>
          <a:prstGeom prst="rect">
            <a:avLst/>
          </a:prstGeom>
          <a:solidFill>
            <a:srgbClr val="FF66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6190301" y="4596606"/>
            <a:ext cx="533982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50"/>
              <a:buFont typeface="Inconsolata"/>
              <a:buNone/>
            </a:pPr>
            <a:r>
              <a:rPr b="1" i="0" lang="en-US" sz="18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Validar y probar la solución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6250" y="6267456"/>
            <a:ext cx="14954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7"/>
          <p:cNvSpPr/>
          <p:nvPr/>
        </p:nvSpPr>
        <p:spPr>
          <a:xfrm>
            <a:off x="661475" y="752971"/>
            <a:ext cx="10868745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Metodología de Desarrollo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7" name="Google Shape;11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9830" y="1721644"/>
            <a:ext cx="8452035" cy="3868341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/>
          <p:nvPr/>
        </p:nvSpPr>
        <p:spPr>
          <a:xfrm>
            <a:off x="8341606" y="4671375"/>
            <a:ext cx="1586817" cy="305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900"/>
              <a:buFont typeface="Inconsolata"/>
              <a:buNone/>
            </a:pPr>
            <a:r>
              <a:rPr b="1" i="0" lang="en-US" sz="19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Pruebas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6385249" y="4671375"/>
            <a:ext cx="1704000" cy="6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900"/>
              <a:buFont typeface="Inconsolata"/>
              <a:buNone/>
            </a:pPr>
            <a:r>
              <a:rPr b="1" i="0" lang="en-US" sz="19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Implementación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4352827" y="4671375"/>
            <a:ext cx="1586817" cy="305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900"/>
              <a:buFont typeface="Inconsolata"/>
              <a:buNone/>
            </a:pPr>
            <a:r>
              <a:rPr b="1" i="0" lang="en-US" sz="19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Diseño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2320397" y="4671375"/>
            <a:ext cx="1586817" cy="305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900"/>
              <a:buFont typeface="Inconsolata"/>
              <a:buNone/>
            </a:pPr>
            <a:r>
              <a:rPr b="1" i="0" lang="en-US" sz="19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Análisis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61475" y="5802610"/>
            <a:ext cx="11478330" cy="3024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50"/>
              <a:buFont typeface="Fira Sans"/>
              <a:buNone/>
            </a:pPr>
            <a:r>
              <a:rPr b="0" i="0" lang="en-US" sz="14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Enfoque híbrido/ágil adaptado a sprints semanales · Agosto a Diciembre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56800" y="6409825"/>
            <a:ext cx="1134885" cy="4481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9" name="Google Shape;12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57188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8"/>
          <p:cNvSpPr/>
          <p:nvPr/>
        </p:nvSpPr>
        <p:spPr>
          <a:xfrm>
            <a:off x="5233360" y="546596"/>
            <a:ext cx="6296860" cy="572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600"/>
              <a:buFont typeface="Inconsolata"/>
              <a:buNone/>
            </a:pPr>
            <a:r>
              <a:rPr b="1" i="0" lang="en-US" sz="36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Roles del Equipo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1" name="Google Shape;1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3360" y="1384796"/>
            <a:ext cx="6296860" cy="1098649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8"/>
          <p:cNvSpPr/>
          <p:nvPr/>
        </p:nvSpPr>
        <p:spPr>
          <a:xfrm>
            <a:off x="5487652" y="1762423"/>
            <a:ext cx="274631" cy="343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150"/>
              <a:buFont typeface="Inconsolata"/>
              <a:buNone/>
            </a:pPr>
            <a:r>
              <a:rPr b="1" i="0" lang="en-US" sz="21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1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6168474" y="1593255"/>
            <a:ext cx="5153293" cy="28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00"/>
              <a:buFont typeface="Inconsolata"/>
              <a:buNone/>
            </a:pPr>
            <a:r>
              <a:rPr b="1" i="0" lang="en-US" sz="18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Líder de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6168474" y="1985665"/>
            <a:ext cx="5153293" cy="288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00"/>
              <a:buFont typeface="Fira Sans"/>
              <a:buNone/>
            </a:pPr>
            <a:r>
              <a:rPr b="0" i="0" lang="en-US" sz="140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Coordinación, requisitos y documentación técnica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5" name="Google Shape;13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3360" y="2660749"/>
            <a:ext cx="6296860" cy="1098649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8"/>
          <p:cNvSpPr/>
          <p:nvPr/>
        </p:nvSpPr>
        <p:spPr>
          <a:xfrm>
            <a:off x="5487652" y="3038376"/>
            <a:ext cx="274631" cy="343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150"/>
              <a:buFont typeface="Inconsolata"/>
              <a:buNone/>
            </a:pPr>
            <a:r>
              <a:rPr b="1" i="0" lang="en-US" sz="21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2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6168474" y="2869208"/>
            <a:ext cx="5153293" cy="28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00"/>
              <a:buFont typeface="Inconsolata"/>
              <a:buNone/>
            </a:pPr>
            <a:r>
              <a:rPr b="1" i="0" lang="en-US" sz="18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Arquitecto de Datos / Backend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6168474" y="3261618"/>
            <a:ext cx="5153293" cy="288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00"/>
              <a:buFont typeface="Fira Sans"/>
              <a:buNone/>
            </a:pPr>
            <a:r>
              <a:rPr b="0" i="0" lang="en-US" sz="140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Base de datos, lógica de negocio e integridad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9" name="Google Shape;13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3360" y="3936702"/>
            <a:ext cx="6296860" cy="1098649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8"/>
          <p:cNvSpPr/>
          <p:nvPr/>
        </p:nvSpPr>
        <p:spPr>
          <a:xfrm>
            <a:off x="5487652" y="4314329"/>
            <a:ext cx="274631" cy="343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150"/>
              <a:buFont typeface="Inconsolata"/>
              <a:buNone/>
            </a:pPr>
            <a:r>
              <a:rPr b="1" i="0" lang="en-US" sz="21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3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6168474" y="4145161"/>
            <a:ext cx="5153293" cy="28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00"/>
              <a:buFont typeface="Inconsolata"/>
              <a:buNone/>
            </a:pPr>
            <a:r>
              <a:rPr b="1" i="0" lang="en-US" sz="18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Desarrollador Frontend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6168474" y="4537571"/>
            <a:ext cx="5153293" cy="288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00"/>
              <a:buFont typeface="Fira Sans"/>
              <a:buNone/>
            </a:pPr>
            <a:r>
              <a:rPr b="0" i="0" lang="en-US" sz="140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Interfaces de usuario y componentes visuales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3" name="Google Shape;14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3360" y="5212655"/>
            <a:ext cx="6296860" cy="1098649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8"/>
          <p:cNvSpPr/>
          <p:nvPr/>
        </p:nvSpPr>
        <p:spPr>
          <a:xfrm>
            <a:off x="5487652" y="5590282"/>
            <a:ext cx="274631" cy="343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2150"/>
              <a:buFont typeface="Inconsolata"/>
              <a:buNone/>
            </a:pPr>
            <a:r>
              <a:rPr b="1" i="0" lang="en-US" sz="215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4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6168474" y="5421114"/>
            <a:ext cx="5153293" cy="28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800"/>
              <a:buFont typeface="Inconsolata"/>
              <a:buNone/>
            </a:pPr>
            <a:r>
              <a:rPr b="1" i="0" lang="en-US" sz="1800" u="none" cap="none" strike="noStrike">
                <a:solidFill>
                  <a:srgbClr val="DAD1E6"/>
                </a:solidFill>
                <a:latin typeface="Inconsolata"/>
                <a:ea typeface="Inconsolata"/>
                <a:cs typeface="Inconsolata"/>
                <a:sym typeface="Inconsolata"/>
              </a:rPr>
              <a:t>Tester (QA)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6168474" y="5813524"/>
            <a:ext cx="5153293" cy="288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1400"/>
              <a:buFont typeface="Fira Sans"/>
              <a:buNone/>
            </a:pPr>
            <a:r>
              <a:rPr b="0" i="0" lang="en-US" sz="140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Pruebas de calidad y detección de errores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58500" y="6364950"/>
            <a:ext cx="1333175" cy="41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"/>
          <p:cNvSpPr/>
          <p:nvPr/>
        </p:nvSpPr>
        <p:spPr>
          <a:xfrm>
            <a:off x="661463" y="222193"/>
            <a:ext cx="10868700" cy="3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1900"/>
              <a:buFont typeface="Inconsolata"/>
              <a:buNone/>
            </a:pPr>
            <a:r>
              <a:rPr b="1" i="0" lang="en-US" sz="30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Evidencias del Proyecto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625" y="714275"/>
            <a:ext cx="5924999" cy="5925159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9"/>
          <p:cNvSpPr/>
          <p:nvPr/>
        </p:nvSpPr>
        <p:spPr>
          <a:xfrm>
            <a:off x="6221058" y="2519847"/>
            <a:ext cx="53154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950"/>
              <a:buFont typeface="Inconsolata"/>
              <a:buNone/>
            </a:pPr>
            <a:r>
              <a:rPr b="1" i="0" lang="en-US" sz="255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Productos evaluables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6165033" y="3125777"/>
            <a:ext cx="5925000" cy="1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000"/>
              </a:lnSpc>
              <a:spcBef>
                <a:spcPts val="0"/>
              </a:spcBef>
              <a:spcAft>
                <a:spcPts val="0"/>
              </a:spcAft>
              <a:buClr>
                <a:srgbClr val="DAD1E6"/>
              </a:buClr>
              <a:buSzPts val="750"/>
              <a:buFont typeface="Fira Sans"/>
              <a:buNone/>
            </a:pPr>
            <a:r>
              <a:rPr b="0" i="0" lang="en-US" sz="2350" u="none" cap="none" strike="noStrike">
                <a:solidFill>
                  <a:srgbClr val="DAD1E6"/>
                </a:solidFill>
                <a:latin typeface="Fira Sans"/>
                <a:ea typeface="Fira Sans"/>
                <a:cs typeface="Fira Sans"/>
                <a:sym typeface="Fira Sans"/>
              </a:rPr>
              <a:t>Cada evidencia demuestra el avance y la calidad del desarrollo del sistema.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696249" y="6267452"/>
            <a:ext cx="14954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/>
          <p:nvPr/>
        </p:nvSpPr>
        <p:spPr>
          <a:xfrm>
            <a:off x="661475" y="965895"/>
            <a:ext cx="10868745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94CAF"/>
              </a:buClr>
              <a:buSzPts val="3700"/>
              <a:buFont typeface="Inconsolata"/>
              <a:buNone/>
            </a:pPr>
            <a:r>
              <a:rPr b="1" i="0" lang="en-US" sz="3700" u="none" cap="none" strike="noStrike">
                <a:solidFill>
                  <a:srgbClr val="F94CAF"/>
                </a:solidFill>
                <a:latin typeface="Inconsolata"/>
                <a:ea typeface="Inconsolata"/>
                <a:cs typeface="Inconsolata"/>
                <a:sym typeface="Inconsolata"/>
              </a:rPr>
              <a:t>Plan de Trabajo · Carta Gantt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4" name="Google Shape;164;p10"/>
          <p:cNvGraphicFramePr/>
          <p:nvPr/>
        </p:nvGraphicFramePr>
        <p:xfrm>
          <a:off x="661475" y="193456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{8D2FB81C-D38C-4FCC-98CC-B29ECDD51928}</a:tableStyleId>
              </a:tblPr>
              <a:tblGrid>
                <a:gridCol w="4347500"/>
                <a:gridCol w="1630300"/>
                <a:gridCol w="1630300"/>
                <a:gridCol w="1630300"/>
                <a:gridCol w="1630300"/>
              </a:tblGrid>
              <a:tr h="545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b="1"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Actividad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b="1"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Fase 1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b="1"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Fase 2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b="1"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Fase 3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b="1"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Duración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</a:tr>
              <a:tr h="850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Levantamiento de requisitos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94CAF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F94CAF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✓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3 sem. (Agosto)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</a:tr>
              <a:tr h="850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Diseño BD y prototipos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94CAF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F94CAF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✓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3 sem. (Septiembre)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</a:tr>
              <a:tr h="850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Desarrollo del software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94CAF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F94CAF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✓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8</a:t>
                      </a: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 sem. (Oct–Nov)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</a:tr>
              <a:tr h="847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Pruebas, manuales y cierre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—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94CAF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 u="none" cap="none" strike="noStrike">
                          <a:solidFill>
                            <a:srgbClr val="F94CAF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✓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AD1E6"/>
                        </a:buClr>
                        <a:buSzPts val="1450"/>
                        <a:buFont typeface="Fira Sans"/>
                        <a:buNone/>
                      </a:pPr>
                      <a:r>
                        <a:rPr lang="en-US" sz="1450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4</a:t>
                      </a:r>
                      <a:r>
                        <a:rPr lang="en-US" sz="1450" u="none" cap="none" strike="noStrike">
                          <a:solidFill>
                            <a:srgbClr val="DAD1E6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 sem. (Nov–Dic)</a:t>
                      </a:r>
                      <a:endParaRPr sz="1450" u="none" cap="none" strike="noStrike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T="6350" marB="6350" marR="189025" marL="189025" anchor="ctr">
                    <a:lnL cap="flat" cmpd="sng" w="12700">
                      <a:solidFill>
                        <a:srgbClr val="24163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594E6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631"/>
                    </a:solidFill>
                  </a:tcPr>
                </a:tc>
              </a:tr>
            </a:tbl>
          </a:graphicData>
        </a:graphic>
      </p:graphicFrame>
      <p:pic>
        <p:nvPicPr>
          <p:cNvPr id="165" name="Google Shape;16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6250" y="6257217"/>
            <a:ext cx="14954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8b62b76d2_1_0"/>
          <p:cNvSpPr txBox="1"/>
          <p:nvPr/>
        </p:nvSpPr>
        <p:spPr>
          <a:xfrm>
            <a:off x="2706538" y="2669750"/>
            <a:ext cx="8545200" cy="16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u="sng">
                <a:solidFill>
                  <a:schemeClr val="hlink"/>
                </a:solidFill>
                <a:hlinkClick r:id="rId3"/>
              </a:rPr>
              <a:t>ismaelcabrera/CAPSTONE-2026</a:t>
            </a:r>
            <a:r>
              <a:rPr lang="en-US" sz="2700">
                <a:solidFill>
                  <a:schemeClr val="dk1"/>
                </a:solidFill>
              </a:rPr>
              <a:t> </a:t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2026-08-30T00:30:31Z</dcterms:created>
</cp:coreProperties>
</file>